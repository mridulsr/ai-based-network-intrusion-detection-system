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5" r:id="rId12"/>
    <p:sldId id="346" r:id="rId13"/>
    <p:sldId id="347" r:id="rId14"/>
    <p:sldId id="348" r:id="rId15"/>
    <p:sldId id="341" r:id="rId16"/>
    <p:sldId id="342" r:id="rId17"/>
    <p:sldId id="343" r:id="rId18"/>
    <p:sldId id="344"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76956" y="3258749"/>
            <a:ext cx="3400089" cy="861497"/>
          </a:xfrm>
        </p:spPr>
        <p:txBody>
          <a:bodyPr/>
          <a:lstStyle/>
          <a:p>
            <a:pPr algn="r"/>
            <a:r>
              <a:rPr lang="en-US" b="0" dirty="0">
                <a:solidFill>
                  <a:schemeClr val="tx1"/>
                </a:solidFill>
              </a:rPr>
              <a:t>Mridul Singh Rajput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29725" y="2050553"/>
            <a:ext cx="6081865" cy="743448"/>
          </a:xfrm>
        </p:spPr>
        <p:txBody>
          <a:bodyPr>
            <a:normAutofit fontScale="90000"/>
          </a:bodyPr>
          <a:lstStyle/>
          <a:p>
            <a:r>
              <a:rPr lang="en-GB" sz="3200" dirty="0"/>
              <a:t>Project Title - </a:t>
            </a:r>
            <a:r>
              <a:rPr lang="en-US" sz="3200" dirty="0"/>
              <a:t>AI-Based Network Intrusion Detection System</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4493308" y="4084144"/>
            <a:ext cx="5372052"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 : STU678e66571705b1737385559</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Rectangle 1">
            <a:extLst>
              <a:ext uri="{FF2B5EF4-FFF2-40B4-BE49-F238E27FC236}">
                <a16:creationId xmlns:a16="http://schemas.microsoft.com/office/drawing/2014/main" id="{DA61620E-A562-C541-3483-E6587F4CC40F}"/>
              </a:ext>
            </a:extLst>
          </p:cNvPr>
          <p:cNvSpPr>
            <a:spLocks noGrp="1" noChangeArrowheads="1"/>
          </p:cNvSpPr>
          <p:nvPr>
            <p:ph type="body" sz="quarter" idx="12"/>
          </p:nvPr>
        </p:nvSpPr>
        <p:spPr bwMode="auto">
          <a:xfrm>
            <a:off x="754602" y="1997839"/>
            <a:ext cx="708998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The Signature Gap:</a:t>
            </a:r>
            <a:r>
              <a:rPr kumimoji="0" lang="en-US" altLang="en-US" sz="1800" b="0" i="0" u="none" strike="noStrike" cap="none" normalizeH="0" baseline="0" dirty="0">
                <a:ln>
                  <a:noFill/>
                </a:ln>
                <a:solidFill>
                  <a:schemeClr val="tx1"/>
                </a:solidFill>
                <a:effectLst/>
                <a:latin typeface="Arial" panose="020B0604020202020204" pitchFamily="34" charset="0"/>
              </a:rPr>
              <a:t> Traditional firewalls cannot stop "Zero-Day" attacks because they don't have a pre-existing rule for them.</a:t>
            </a:r>
          </a:p>
          <a:p>
            <a:pPr marR="0" lvl="0" algn="l" defTabSz="914400" rtl="0" eaLnBrk="0" fontAlgn="base" latinLnBrk="0" hangingPunct="0">
              <a:lnSpc>
                <a:spcPct val="100000"/>
              </a:lnSpc>
              <a:spcBef>
                <a:spcPct val="0"/>
              </a:spcBef>
              <a:spcAft>
                <a:spcPct val="0"/>
              </a:spcAft>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Complexity:</a:t>
            </a:r>
            <a:r>
              <a:rPr kumimoji="0" lang="en-US" altLang="en-US" sz="1800" b="0" i="0" u="none" strike="noStrike" cap="none" normalizeH="0" baseline="0" dirty="0">
                <a:ln>
                  <a:noFill/>
                </a:ln>
                <a:solidFill>
                  <a:schemeClr val="tx1"/>
                </a:solidFill>
                <a:effectLst/>
                <a:latin typeface="Arial" panose="020B0604020202020204" pitchFamily="34" charset="0"/>
              </a:rPr>
              <a:t> Modern network traffic (e.g., CIC-IDS2017 dataset) contains millions of packets; humans cannot analyze them manually.</a:t>
            </a:r>
          </a:p>
          <a:p>
            <a:pPr marR="0" lvl="0" algn="l" defTabSz="914400" rtl="0" eaLnBrk="0" fontAlgn="base" latinLnBrk="0" hangingPunct="0">
              <a:lnSpc>
                <a:spcPct val="100000"/>
              </a:lnSpc>
              <a:spcBef>
                <a:spcPct val="0"/>
              </a:spcBef>
              <a:spcAft>
                <a:spcPct val="0"/>
              </a:spcAft>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The "Black Box" Issue:</a:t>
            </a:r>
            <a:r>
              <a:rPr kumimoji="0" lang="en-US" altLang="en-US" sz="1800" b="0" i="0" u="none" strike="noStrike" cap="none" normalizeH="0" baseline="0" dirty="0">
                <a:ln>
                  <a:noFill/>
                </a:ln>
                <a:solidFill>
                  <a:schemeClr val="tx1"/>
                </a:solidFill>
                <a:effectLst/>
                <a:latin typeface="Arial" panose="020B0604020202020204" pitchFamily="34" charset="0"/>
              </a:rPr>
              <a:t> Traditional AI tells you "This is an attack," but junior analysts often don't understand the technical reasons behind the alert.</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837297"/>
            <a:ext cx="6276109" cy="830997"/>
          </a:xfrm>
        </p:spPr>
        <p:txBody>
          <a:bodyPr>
            <a:normAutofit fontScale="90000"/>
          </a:bodyPr>
          <a:lstStyle/>
          <a:p>
            <a:r>
              <a:rPr lang="en-GB" dirty="0"/>
              <a:t>Project Description</a:t>
            </a:r>
            <a:br>
              <a:rPr lang="en-GB" dirty="0"/>
            </a:br>
            <a:br>
              <a:rPr lang="en-US" sz="1600" dirty="0"/>
            </a:br>
            <a:r>
              <a:rPr lang="en-US" sz="1600" dirty="0"/>
              <a:t>1. Project Objective</a:t>
            </a:r>
            <a:br>
              <a:rPr lang="en-US" sz="1600" dirty="0"/>
            </a:br>
            <a:r>
              <a:rPr lang="en-US" sz="1600" dirty="0"/>
              <a:t>To develop an intelligent Network Intrusion Detection System (NIDS) that identifies malicious traffic (specifically DDoS attacks) using behavioral analysis rather than static rules.</a:t>
            </a:r>
            <a:br>
              <a:rPr lang="en-US" sz="1600" dirty="0"/>
            </a:br>
            <a:br>
              <a:rPr lang="en-US" sz="1600" dirty="0"/>
            </a:br>
            <a:r>
              <a:rPr lang="en-US" sz="1600" dirty="0"/>
              <a:t>2. Core Technical Framework</a:t>
            </a:r>
            <a:br>
              <a:rPr lang="en-US" sz="1600" dirty="0"/>
            </a:br>
            <a:r>
              <a:rPr lang="en-US" sz="1600" dirty="0"/>
              <a:t>Data Source: Utilizes the CIC-IDS2017 dataset, focusing on 8 key network features (Flow Duration, Packet Length, IAT, etc.).</a:t>
            </a:r>
            <a:br>
              <a:rPr lang="en-US" sz="1600" dirty="0"/>
            </a:br>
            <a:r>
              <a:rPr lang="en-US" sz="1600" dirty="0"/>
              <a:t>ML Engine: Implements a Random Forest Classifier for high-speed, accurate classification of traffic into "BENIGN" or "ATTACK."</a:t>
            </a:r>
            <a:br>
              <a:rPr lang="en-US" sz="1600" dirty="0"/>
            </a:br>
            <a:r>
              <a:rPr lang="en-US" sz="1600" dirty="0"/>
              <a:t>Platform: A real-time </a:t>
            </a:r>
            <a:r>
              <a:rPr lang="en-US" sz="1600" dirty="0" err="1"/>
              <a:t>Streamlit</a:t>
            </a:r>
            <a:r>
              <a:rPr lang="en-US" sz="1600" dirty="0"/>
              <a:t> Dashboard that simulates live packet capture and analysis.</a:t>
            </a:r>
            <a:br>
              <a:rPr lang="en-US" sz="1600" dirty="0"/>
            </a:br>
            <a:br>
              <a:rPr lang="en-US" sz="1600" dirty="0"/>
            </a:br>
            <a:r>
              <a:rPr lang="en-US" sz="1600" dirty="0"/>
              <a:t>3. Key Innovation: Explainable AI (XAI)</a:t>
            </a:r>
            <a:br>
              <a:rPr lang="en-US" sz="1600" dirty="0"/>
            </a:br>
            <a:r>
              <a:rPr lang="en-US" sz="1600" dirty="0"/>
              <a:t>Integrates </a:t>
            </a:r>
            <a:r>
              <a:rPr lang="en-US" sz="1600" dirty="0" err="1"/>
              <a:t>Groq</a:t>
            </a:r>
            <a:r>
              <a:rPr lang="en-US" sz="1600" dirty="0"/>
              <a:t> (Llama-3) to solve the "Black Box" problem. The system doesn't just flag a threat; it generates a natural language explanation of the technical headers, acting as a virtual Security Analyst for the user.</a:t>
            </a:r>
            <a:br>
              <a:rPr lang="en-US" sz="1600" dirty="0"/>
            </a:br>
            <a:br>
              <a:rPr lang="en-US" sz="1600" dirty="0"/>
            </a:br>
            <a:r>
              <a:rPr lang="en-US" sz="1600" dirty="0"/>
              <a:t>4. Outcome</a:t>
            </a:r>
            <a:br>
              <a:rPr lang="en-US" sz="1600" dirty="0"/>
            </a:br>
            <a:r>
              <a:rPr lang="en-US" sz="1600" dirty="0"/>
              <a:t>Achieves [Insert Accuracy, e.g., 99%+] accuracy while reducing the technical barrier for junior analysts to understand and respond to network threats.</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92763" y="2050357"/>
            <a:ext cx="11406474" cy="4369334"/>
          </a:xfrm>
        </p:spPr>
        <p:txBody>
          <a:bodyPr>
            <a:normAutofit fontScale="25000" lnSpcReduction="20000"/>
          </a:bodyPr>
          <a:lstStyle/>
          <a:p>
            <a:r>
              <a:rPr lang="en-US" sz="5600" b="1" dirty="0"/>
              <a:t>Junior Security Analysts (SOC Level 1)</a:t>
            </a:r>
            <a:endParaRPr lang="en-US" sz="5600" dirty="0"/>
          </a:p>
          <a:p>
            <a:pPr marL="0" indent="0">
              <a:buNone/>
            </a:pPr>
            <a:r>
              <a:rPr lang="en-US" sz="5600" b="1" dirty="0"/>
              <a:t>      Benefit:</a:t>
            </a:r>
            <a:r>
              <a:rPr lang="en-US" sz="5600" dirty="0"/>
              <a:t> Uses the </a:t>
            </a:r>
            <a:r>
              <a:rPr lang="en-US" sz="5600" b="1" dirty="0"/>
              <a:t>AI Analyst (</a:t>
            </a:r>
            <a:r>
              <a:rPr lang="en-US" sz="5600" b="1" dirty="0" err="1"/>
              <a:t>Groq</a:t>
            </a:r>
            <a:r>
              <a:rPr lang="en-US" sz="5600" b="1" dirty="0"/>
              <a:t>)</a:t>
            </a:r>
            <a:r>
              <a:rPr lang="en-US" sz="5600" dirty="0"/>
              <a:t> to understand complex packet headers without needing years of experience.</a:t>
            </a:r>
          </a:p>
          <a:p>
            <a:pPr marL="0" indent="0">
              <a:buNone/>
            </a:pPr>
            <a:r>
              <a:rPr lang="en-US" sz="5600" b="1" dirty="0"/>
              <a:t>      Impact:</a:t>
            </a:r>
            <a:r>
              <a:rPr lang="en-US" sz="5600" dirty="0"/>
              <a:t> Simplifies decision-making and speeds up the investigation of flagged alerts.</a:t>
            </a:r>
          </a:p>
          <a:p>
            <a:r>
              <a:rPr lang="en-US" sz="5600" b="1" dirty="0"/>
              <a:t>Network Administrators</a:t>
            </a:r>
            <a:endParaRPr lang="en-US" sz="5600" dirty="0"/>
          </a:p>
          <a:p>
            <a:pPr marL="0" indent="0">
              <a:buNone/>
            </a:pPr>
            <a:r>
              <a:rPr lang="en-US" sz="5600" b="1" dirty="0"/>
              <a:t>      Benefit:</a:t>
            </a:r>
            <a:r>
              <a:rPr lang="en-US" sz="5600" dirty="0"/>
              <a:t> Gains real-time visibility into network health via the </a:t>
            </a:r>
            <a:r>
              <a:rPr lang="en-US" sz="5600" b="1" dirty="0" err="1"/>
              <a:t>Streamlit</a:t>
            </a:r>
            <a:r>
              <a:rPr lang="en-US" sz="5600" b="1" dirty="0"/>
              <a:t> Dashboard</a:t>
            </a:r>
            <a:r>
              <a:rPr lang="en-US" sz="5600" dirty="0"/>
              <a:t>.</a:t>
            </a:r>
          </a:p>
          <a:p>
            <a:pPr marL="0" indent="0">
              <a:buNone/>
            </a:pPr>
            <a:r>
              <a:rPr lang="en-US" sz="5600" b="1" dirty="0"/>
              <a:t>      Impact:</a:t>
            </a:r>
            <a:r>
              <a:rPr lang="en-US" sz="5600" dirty="0"/>
              <a:t> Can quickly identify if a sudden spike in traffic is a legitimate user surge or a </a:t>
            </a:r>
            <a:r>
              <a:rPr lang="en-US" sz="5600" b="1" dirty="0"/>
              <a:t>DDoS attack</a:t>
            </a:r>
            <a:r>
              <a:rPr lang="en-US" sz="5600" dirty="0"/>
              <a:t> requiring immediate mitigation.</a:t>
            </a:r>
          </a:p>
          <a:p>
            <a:r>
              <a:rPr lang="en-US" sz="5600" b="1" dirty="0"/>
              <a:t>Cybersecurity Students &amp; Researchers</a:t>
            </a:r>
            <a:endParaRPr lang="en-US" sz="5600" dirty="0"/>
          </a:p>
          <a:p>
            <a:pPr marL="0" indent="0">
              <a:buNone/>
            </a:pPr>
            <a:r>
              <a:rPr lang="en-US" sz="5600" b="1" dirty="0"/>
              <a:t>      Benefit:</a:t>
            </a:r>
            <a:r>
              <a:rPr lang="en-US" sz="5600" dirty="0"/>
              <a:t> Uses the "Simulate Random Packet" feature to study the behavior of different attack types in a controlled environment.</a:t>
            </a:r>
          </a:p>
          <a:p>
            <a:pPr marL="0" indent="0">
              <a:buNone/>
            </a:pPr>
            <a:r>
              <a:rPr lang="en-US" sz="5600" b="1" dirty="0"/>
              <a:t>      Impact:</a:t>
            </a:r>
            <a:r>
              <a:rPr lang="en-US" sz="5600" dirty="0"/>
              <a:t> Provides a practical, hands-on tool for learning </a:t>
            </a:r>
            <a:r>
              <a:rPr lang="en-US" sz="5600" b="1" dirty="0"/>
              <a:t>Machine Learning</a:t>
            </a:r>
            <a:r>
              <a:rPr lang="en-US" sz="5600" dirty="0"/>
              <a:t> applications in digital security.</a:t>
            </a:r>
          </a:p>
          <a:p>
            <a:r>
              <a:rPr lang="en-US" sz="5600" b="1" dirty="0"/>
              <a:t>Small to Medium Enterprises (SMEs)</a:t>
            </a:r>
            <a:endParaRPr lang="en-US" sz="5600" dirty="0"/>
          </a:p>
          <a:p>
            <a:pPr marL="0" indent="0">
              <a:buNone/>
            </a:pPr>
            <a:r>
              <a:rPr lang="en-US" sz="5600" b="1" dirty="0"/>
              <a:t>      Benefit:</a:t>
            </a:r>
            <a:r>
              <a:rPr lang="en-US" sz="5600" dirty="0"/>
              <a:t> Offers a low-cost, AI-driven alternative to expensive, enterprise-grade proprietary security suites.</a:t>
            </a:r>
          </a:p>
          <a:p>
            <a:pPr marL="0" indent="0">
              <a:buNone/>
            </a:pPr>
            <a:r>
              <a:rPr lang="en-US" sz="5600" b="1" dirty="0"/>
              <a:t>      Impact:</a:t>
            </a:r>
            <a:r>
              <a:rPr lang="en-US" sz="5600" dirty="0"/>
              <a:t> Enhances the security posture of organizations with limited specialized cybersecurity staff.</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97C9531F-66D3-94F9-A4DA-D1E25EC444D5}"/>
              </a:ext>
            </a:extLst>
          </p:cNvPr>
          <p:cNvSpPr>
            <a:spLocks noGrp="1" noChangeArrowheads="1"/>
          </p:cNvSpPr>
          <p:nvPr>
            <p:ph type="body" sz="quarter" idx="12"/>
          </p:nvPr>
        </p:nvSpPr>
        <p:spPr bwMode="auto">
          <a:xfrm>
            <a:off x="1569900" y="1225689"/>
            <a:ext cx="879358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Programming &amp; Backend: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Core language for data processing and model logic.</a:t>
            </a: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Pandas &amp; NumPy:</a:t>
            </a:r>
            <a:r>
              <a:rPr kumimoji="0" lang="en-US" altLang="en-US" sz="1800" b="0" i="0" u="none" strike="noStrike" cap="none" normalizeH="0" baseline="0" dirty="0">
                <a:ln>
                  <a:noFill/>
                </a:ln>
                <a:solidFill>
                  <a:schemeClr val="tx1"/>
                </a:solidFill>
                <a:effectLst/>
                <a:latin typeface="Arial" panose="020B0604020202020204" pitchFamily="34" charset="0"/>
              </a:rPr>
              <a:t> For data cleaning and manipulation of the CIC-IDS2017 dataset.</a:t>
            </a:r>
          </a:p>
          <a:p>
            <a:pPr marR="0" lvl="0" algn="l" defTabSz="914400" rtl="0" eaLnBrk="0" fontAlgn="base" latinLnBrk="0" hangingPunct="0">
              <a:lnSpc>
                <a:spcPct val="100000"/>
              </a:lnSpc>
              <a:spcBef>
                <a:spcPct val="0"/>
              </a:spcBef>
              <a:spcAft>
                <a:spcPct val="0"/>
              </a:spcAft>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Machine Learning (The Brain):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Scikit-Learn:</a:t>
            </a:r>
            <a:r>
              <a:rPr kumimoji="0" lang="en-US" altLang="en-US" sz="1800" b="0" i="0" u="none" strike="noStrike" cap="none" normalizeH="0" baseline="0" dirty="0">
                <a:ln>
                  <a:noFill/>
                </a:ln>
                <a:solidFill>
                  <a:schemeClr val="tx1"/>
                </a:solidFill>
                <a:effectLst/>
                <a:latin typeface="Arial" panose="020B0604020202020204" pitchFamily="34" charset="0"/>
              </a:rPr>
              <a:t> Used to implement the </a:t>
            </a:r>
            <a:r>
              <a:rPr kumimoji="0" lang="en-US" altLang="en-US" sz="1800" b="1" i="0" u="none" strike="noStrike" cap="none" normalizeH="0" baseline="0" dirty="0">
                <a:ln>
                  <a:noFill/>
                </a:ln>
                <a:solidFill>
                  <a:schemeClr val="tx1"/>
                </a:solidFill>
                <a:effectLst/>
                <a:latin typeface="Arial" panose="020B0604020202020204" pitchFamily="34" charset="0"/>
              </a:rPr>
              <a:t>Random Forest Classifier</a:t>
            </a:r>
            <a:r>
              <a:rPr kumimoji="0" lang="en-US" altLang="en-US" sz="1800" b="0" i="0" u="none" strike="noStrike" cap="none" normalizeH="0" baseline="0" dirty="0">
                <a:ln>
                  <a:noFill/>
                </a:ln>
                <a:solidFill>
                  <a:schemeClr val="tx1"/>
                </a:solidFill>
                <a:effectLst/>
                <a:latin typeface="Arial" panose="020B0604020202020204" pitchFamily="34" charset="0"/>
              </a:rPr>
              <a:t> for high-speed attack detection.</a:t>
            </a: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Random Forest:</a:t>
            </a:r>
            <a:r>
              <a:rPr kumimoji="0" lang="en-US" altLang="en-US" sz="1800" b="0" i="0" u="none" strike="noStrike" cap="none" normalizeH="0" baseline="0" dirty="0">
                <a:ln>
                  <a:noFill/>
                </a:ln>
                <a:solidFill>
                  <a:schemeClr val="tx1"/>
                </a:solidFill>
                <a:effectLst/>
                <a:latin typeface="Arial" panose="020B0604020202020204" pitchFamily="34" charset="0"/>
              </a:rPr>
              <a:t> Chosen for its ability to handle complex network traffic features with high accuracy.</a:t>
            </a:r>
          </a:p>
          <a:p>
            <a:pPr marR="0" lvl="0" algn="l" defTabSz="914400" rtl="0" eaLnBrk="0" fontAlgn="base" latinLnBrk="0" hangingPunct="0">
              <a:lnSpc>
                <a:spcPct val="100000"/>
              </a:lnSpc>
              <a:spcBef>
                <a:spcPct val="0"/>
              </a:spcBef>
              <a:spcAft>
                <a:spcPct val="0"/>
              </a:spcAft>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Generative AI (The Analyst):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err="1">
                <a:ln>
                  <a:noFill/>
                </a:ln>
                <a:solidFill>
                  <a:schemeClr val="tx1"/>
                </a:solidFill>
                <a:effectLst/>
                <a:latin typeface="Arial" panose="020B0604020202020204" pitchFamily="34" charset="0"/>
              </a:rPr>
              <a:t>Groq</a:t>
            </a:r>
            <a:r>
              <a:rPr kumimoji="0" lang="en-US" altLang="en-US" sz="1800" b="1" i="0" u="none" strike="noStrike" cap="none" normalizeH="0" baseline="0" dirty="0">
                <a:ln>
                  <a:noFill/>
                </a:ln>
                <a:solidFill>
                  <a:schemeClr val="tx1"/>
                </a:solidFill>
                <a:effectLst/>
                <a:latin typeface="Arial" panose="020B0604020202020204" pitchFamily="34" charset="0"/>
              </a:rPr>
              <a:t> API:</a:t>
            </a:r>
            <a:r>
              <a:rPr kumimoji="0" lang="en-US" altLang="en-US" sz="1800" b="0" i="0" u="none" strike="noStrike" cap="none" normalizeH="0" baseline="0" dirty="0">
                <a:ln>
                  <a:noFill/>
                </a:ln>
                <a:solidFill>
                  <a:schemeClr val="tx1"/>
                </a:solidFill>
                <a:effectLst/>
                <a:latin typeface="Arial" panose="020B0604020202020204" pitchFamily="34" charset="0"/>
              </a:rPr>
              <a:t> Ultra-fast inference engine to run </a:t>
            </a:r>
            <a:r>
              <a:rPr kumimoji="0" lang="en-US" altLang="en-US" sz="1800" b="1" i="0" u="none" strike="noStrike" cap="none" normalizeH="0" baseline="0" dirty="0">
                <a:ln>
                  <a:noFill/>
                </a:ln>
                <a:solidFill>
                  <a:schemeClr val="tx1"/>
                </a:solidFill>
                <a:effectLst/>
                <a:latin typeface="Arial" panose="020B0604020202020204" pitchFamily="34" charset="0"/>
              </a:rPr>
              <a:t>Llama-3.3-70B</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a:ln>
                  <a:noFill/>
                </a:ln>
                <a:solidFill>
                  <a:schemeClr val="tx1"/>
                </a:solidFill>
                <a:effectLst/>
                <a:latin typeface="Arial" panose="020B0604020202020204" pitchFamily="34" charset="0"/>
              </a:rPr>
              <a:t>LLM Integration:</a:t>
            </a:r>
            <a:r>
              <a:rPr kumimoji="0" lang="en-US" altLang="en-US" sz="1800" b="0" i="0" u="none" strike="noStrike" cap="none" normalizeH="0" baseline="0" dirty="0">
                <a:ln>
                  <a:noFill/>
                </a:ln>
                <a:solidFill>
                  <a:schemeClr val="tx1"/>
                </a:solidFill>
                <a:effectLst/>
                <a:latin typeface="Arial" panose="020B0604020202020204" pitchFamily="34" charset="0"/>
              </a:rPr>
              <a:t> Translates technical packet headers into plain English for the user.</a:t>
            </a:r>
          </a:p>
          <a:p>
            <a:pPr marR="0" lvl="0" algn="l" defTabSz="914400" rtl="0" eaLnBrk="0" fontAlgn="base" latinLnBrk="0" hangingPunct="0">
              <a:lnSpc>
                <a:spcPct val="100000"/>
              </a:lnSpc>
              <a:spcBef>
                <a:spcPct val="0"/>
              </a:spcBef>
              <a:spcAft>
                <a:spcPct val="0"/>
              </a:spcAft>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Frontend &amp; UI: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tabLst/>
            </a:pPr>
            <a:r>
              <a:rPr kumimoji="0" lang="en-US" altLang="en-US" sz="1800" b="1" i="0" u="none" strike="noStrike" cap="none" normalizeH="0" baseline="0" dirty="0" err="1">
                <a:ln>
                  <a:noFill/>
                </a:ln>
                <a:solidFill>
                  <a:schemeClr val="tx1"/>
                </a:solidFill>
                <a:effectLst/>
                <a:latin typeface="Arial" panose="020B0604020202020204" pitchFamily="34" charset="0"/>
              </a:rPr>
              <a:t>Streamlit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Framework used to build the interactive web dashboard and real-time simulation interface.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F094886-8AF6-FFA9-3180-E4798B2F5472}"/>
              </a:ext>
            </a:extLst>
          </p:cNvPr>
          <p:cNvPicPr>
            <a:picLocks noChangeAspect="1"/>
          </p:cNvPicPr>
          <p:nvPr/>
        </p:nvPicPr>
        <p:blipFill>
          <a:blip r:embed="rId4"/>
          <a:stretch>
            <a:fillRect/>
          </a:stretch>
        </p:blipFill>
        <p:spPr>
          <a:xfrm>
            <a:off x="505325" y="1201586"/>
            <a:ext cx="8799095" cy="546337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31C2B1B-4802-C712-2336-C920C23EA53F}"/>
              </a:ext>
            </a:extLst>
          </p:cNvPr>
          <p:cNvPicPr>
            <a:picLocks noChangeAspect="1"/>
          </p:cNvPicPr>
          <p:nvPr/>
        </p:nvPicPr>
        <p:blipFill>
          <a:blip r:embed="rId4"/>
          <a:stretch>
            <a:fillRect/>
          </a:stretch>
        </p:blipFill>
        <p:spPr>
          <a:xfrm>
            <a:off x="505325" y="1097822"/>
            <a:ext cx="8775032" cy="5389589"/>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A6256-1C8B-7DA9-3388-B203F6FAC14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4D3D69-BE61-38C1-32A0-C3B974B14CB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E616FA8-E657-2530-293C-080ADDC33A5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5B356DE-E07D-F10A-6340-C4AADB97953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72217D4-538A-6516-4990-A3F23C70941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B82965C3-41DE-B1F9-5196-BB7E5E4CF895}"/>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8ADC356-BD3C-45A6-9C9C-D23DF7BFB0BF}"/>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1473350-480F-43D6-78D5-4CF2757B5DD0}"/>
              </a:ext>
            </a:extLst>
          </p:cNvPr>
          <p:cNvPicPr>
            <a:picLocks noChangeAspect="1"/>
          </p:cNvPicPr>
          <p:nvPr/>
        </p:nvPicPr>
        <p:blipFill>
          <a:blip r:embed="rId4"/>
          <a:stretch>
            <a:fillRect/>
          </a:stretch>
        </p:blipFill>
        <p:spPr>
          <a:xfrm>
            <a:off x="569495" y="1201586"/>
            <a:ext cx="8710863" cy="5463374"/>
          </a:xfrm>
          <a:prstGeom prst="rect">
            <a:avLst/>
          </a:prstGeom>
        </p:spPr>
      </p:pic>
    </p:spTree>
    <p:extLst>
      <p:ext uri="{BB962C8B-B14F-4D97-AF65-F5344CB8AC3E}">
        <p14:creationId xmlns:p14="http://schemas.microsoft.com/office/powerpoint/2010/main" val="369838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A071F-7EF2-592F-CC1F-402F9F080B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78A65C5-695A-212F-D61E-D48FC58A7F7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F1523A1-BCAD-BD1C-4FB4-BE17018839E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087943C-BF1C-5EB5-0F79-F11524ECD4B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46609D5-ED39-2CF2-B926-CBD5DB619EE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EA63B66-C07D-220C-EBAF-C83A27336DA2}"/>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A2ADB6A5-C7AB-46C4-F22C-3F0E857126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D5FD7B2-D198-EDAA-6EDE-C649678AE2A5}"/>
              </a:ext>
            </a:extLst>
          </p:cNvPr>
          <p:cNvPicPr>
            <a:picLocks noChangeAspect="1"/>
          </p:cNvPicPr>
          <p:nvPr/>
        </p:nvPicPr>
        <p:blipFill>
          <a:blip r:embed="rId4"/>
          <a:stretch>
            <a:fillRect/>
          </a:stretch>
        </p:blipFill>
        <p:spPr>
          <a:xfrm>
            <a:off x="422959" y="1353031"/>
            <a:ext cx="8855483" cy="5118889"/>
          </a:xfrm>
          <a:prstGeom prst="rect">
            <a:avLst/>
          </a:prstGeom>
        </p:spPr>
      </p:pic>
    </p:spTree>
    <p:extLst>
      <p:ext uri="{BB962C8B-B14F-4D97-AF65-F5344CB8AC3E}">
        <p14:creationId xmlns:p14="http://schemas.microsoft.com/office/powerpoint/2010/main" val="413722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A3194-E9EF-35AF-73D2-C4669FA62E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0C04A8-700A-4EB3-435A-9185A51F579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2C42806-C6DF-1B9E-6E3E-CB9E498991E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DE23102-86D3-A3CF-E2EC-28CF92A3570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90306C5-DA42-8161-0E1F-51D1AFC06CA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D0B7B87-0F7B-B61C-5E21-42B075CA4B80}"/>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00E9CC28-A291-93E3-DE9E-ACDE325C74D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4154CCE-B61E-2867-7CDA-E2A72A9BCCB5}"/>
              </a:ext>
            </a:extLst>
          </p:cNvPr>
          <p:cNvPicPr>
            <a:picLocks noChangeAspect="1"/>
          </p:cNvPicPr>
          <p:nvPr/>
        </p:nvPicPr>
        <p:blipFill>
          <a:blip r:embed="rId4"/>
          <a:stretch>
            <a:fillRect/>
          </a:stretch>
        </p:blipFill>
        <p:spPr>
          <a:xfrm>
            <a:off x="489284" y="1201586"/>
            <a:ext cx="8783053" cy="5419968"/>
          </a:xfrm>
          <a:prstGeom prst="rect">
            <a:avLst/>
          </a:prstGeom>
        </p:spPr>
      </p:pic>
    </p:spTree>
    <p:extLst>
      <p:ext uri="{BB962C8B-B14F-4D97-AF65-F5344CB8AC3E}">
        <p14:creationId xmlns:p14="http://schemas.microsoft.com/office/powerpoint/2010/main" val="341371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DA97-E5B4-45CE-B058-F4231351E6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09B2E0-6FAA-44A3-32C2-73F7A79CA6D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9CB6C33-8451-EEE1-990A-A60DD17E560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4394442-BC65-0BA0-C602-73288A4F073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44A8301-E12F-6749-9A24-4F309A2D76C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5ED77E8-C1B0-2354-A5A1-F57144208328}"/>
              </a:ext>
            </a:extLst>
          </p:cNvPr>
          <p:cNvSpPr txBox="1">
            <a:spLocks/>
          </p:cNvSpPr>
          <p:nvPr/>
        </p:nvSpPr>
        <p:spPr>
          <a:xfrm>
            <a:off x="422959" y="6086358"/>
            <a:ext cx="7549967" cy="830997"/>
          </a:xfrm>
          <a:prstGeom prst="rect">
            <a:avLst/>
          </a:prstGeom>
        </p:spPr>
        <p:txBody>
          <a:bodyPr vert="horz" lIns="91440" tIns="45720" rIns="91440" bIns="45720" rtlCol="0" anchor="t">
            <a:normAutofit fontScale="7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rPr>
              <a:t>https://huggingface.co/spaces/Mridulsr/AIBasedNetworkIntrusionDetectionSystem</a:t>
            </a:r>
            <a:endParaRPr lang="en-IN" b="0" u="sng" dirty="0">
              <a:solidFill>
                <a:srgbClr val="0070C0"/>
              </a:solidFill>
            </a:endParaRPr>
          </a:p>
        </p:txBody>
      </p:sp>
      <p:sp>
        <p:nvSpPr>
          <p:cNvPr id="10" name="Text Placeholder 1">
            <a:extLst>
              <a:ext uri="{FF2B5EF4-FFF2-40B4-BE49-F238E27FC236}">
                <a16:creationId xmlns:a16="http://schemas.microsoft.com/office/drawing/2014/main" id="{053661F7-C91E-A64B-BE9F-0A9F2CCEA65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6C01C22-7414-8D82-4B1A-22526F31FB0B}"/>
              </a:ext>
            </a:extLst>
          </p:cNvPr>
          <p:cNvPicPr>
            <a:picLocks noChangeAspect="1"/>
          </p:cNvPicPr>
          <p:nvPr/>
        </p:nvPicPr>
        <p:blipFill>
          <a:blip r:embed="rId3"/>
          <a:stretch>
            <a:fillRect/>
          </a:stretch>
        </p:blipFill>
        <p:spPr>
          <a:xfrm>
            <a:off x="472770" y="1121074"/>
            <a:ext cx="8848589" cy="4772503"/>
          </a:xfrm>
          <a:prstGeom prst="rect">
            <a:avLst/>
          </a:prstGeom>
        </p:spPr>
      </p:pic>
    </p:spTree>
    <p:extLst>
      <p:ext uri="{BB962C8B-B14F-4D97-AF65-F5344CB8AC3E}">
        <p14:creationId xmlns:p14="http://schemas.microsoft.com/office/powerpoint/2010/main" val="3954296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a:extLst>
              <a:ext uri="{FF2B5EF4-FFF2-40B4-BE49-F238E27FC236}">
                <a16:creationId xmlns:a16="http://schemas.microsoft.com/office/drawing/2014/main" id="{D9B3578E-7DA5-1DDE-083C-F3133BF18877}"/>
              </a:ext>
            </a:extLst>
          </p:cNvPr>
          <p:cNvPicPr>
            <a:picLocks noChangeAspect="1"/>
          </p:cNvPicPr>
          <p:nvPr/>
        </p:nvPicPr>
        <p:blipFill>
          <a:blip r:embed="rId2"/>
          <a:stretch>
            <a:fillRect/>
          </a:stretch>
        </p:blipFill>
        <p:spPr>
          <a:xfrm>
            <a:off x="559537" y="1195137"/>
            <a:ext cx="8825094" cy="5157535"/>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a:extLst>
              <a:ext uri="{FF2B5EF4-FFF2-40B4-BE49-F238E27FC236}">
                <a16:creationId xmlns:a16="http://schemas.microsoft.com/office/drawing/2014/main" id="{07C006DE-0FA6-9533-56AC-A37A23096BFF}"/>
              </a:ext>
            </a:extLst>
          </p:cNvPr>
          <p:cNvPicPr>
            <a:picLocks noChangeAspect="1"/>
          </p:cNvPicPr>
          <p:nvPr/>
        </p:nvPicPr>
        <p:blipFill>
          <a:blip r:embed="rId2"/>
          <a:stretch>
            <a:fillRect/>
          </a:stretch>
        </p:blipFill>
        <p:spPr>
          <a:xfrm>
            <a:off x="497304" y="1263607"/>
            <a:ext cx="8847222" cy="5153317"/>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Securing Android Devices</a:t>
            </a:r>
          </a:p>
        </p:txBody>
      </p:sp>
      <p:pic>
        <p:nvPicPr>
          <p:cNvPr id="3" name="Picture 2">
            <a:extLst>
              <a:ext uri="{FF2B5EF4-FFF2-40B4-BE49-F238E27FC236}">
                <a16:creationId xmlns:a16="http://schemas.microsoft.com/office/drawing/2014/main" id="{37B26EA9-7140-7687-F14B-CDA6BDE015A9}"/>
              </a:ext>
            </a:extLst>
          </p:cNvPr>
          <p:cNvPicPr>
            <a:picLocks noChangeAspect="1"/>
          </p:cNvPicPr>
          <p:nvPr/>
        </p:nvPicPr>
        <p:blipFill>
          <a:blip r:embed="rId2"/>
          <a:stretch>
            <a:fillRect/>
          </a:stretch>
        </p:blipFill>
        <p:spPr>
          <a:xfrm>
            <a:off x="585536" y="1432495"/>
            <a:ext cx="8847221" cy="4668697"/>
          </a:xfrm>
          <a:prstGeom prst="rect">
            <a:avLst/>
          </a:prstGeom>
        </p:spPr>
      </p:pic>
    </p:spTree>
    <p:extLst>
      <p:ext uri="{BB962C8B-B14F-4D97-AF65-F5344CB8AC3E}">
        <p14:creationId xmlns:p14="http://schemas.microsoft.com/office/powerpoint/2010/main" val="341100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15</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5" name="TextBox 4">
            <a:extLst>
              <a:ext uri="{FF2B5EF4-FFF2-40B4-BE49-F238E27FC236}">
                <a16:creationId xmlns:a16="http://schemas.microsoft.com/office/drawing/2014/main" id="{9A360FE9-DDE6-EB63-DDF3-720471ECAA61}"/>
              </a:ext>
            </a:extLst>
          </p:cNvPr>
          <p:cNvSpPr txBox="1"/>
          <p:nvPr/>
        </p:nvSpPr>
        <p:spPr>
          <a:xfrm>
            <a:off x="553453" y="3109845"/>
            <a:ext cx="8596562" cy="369332"/>
          </a:xfrm>
          <a:prstGeom prst="rect">
            <a:avLst/>
          </a:prstGeom>
          <a:noFill/>
        </p:spPr>
        <p:txBody>
          <a:bodyPr wrap="square">
            <a:spAutoFit/>
          </a:bodyPr>
          <a:lstStyle/>
          <a:p>
            <a:r>
              <a:rPr lang="en-IN" dirty="0"/>
              <a:t>https://github.com/Mridulsr/AI-Based-Network-Intrusion-Detection-System</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http://www.w3.org/XML/1998/namespace"/>
    <ds:schemaRef ds:uri="http://schemas.microsoft.com/office/2006/metadata/properties"/>
    <ds:schemaRef ds:uri="http://schemas.microsoft.com/office/infopath/2007/PartnerControls"/>
    <ds:schemaRef ds:uri="16c05727-aa75-4e4a-9b5f-8a80a116589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Facet</Template>
  <TotalTime>661</TotalTime>
  <Words>700</Words>
  <Application>Microsoft Office PowerPoint</Application>
  <PresentationFormat>Widescreen</PresentationFormat>
  <Paragraphs>66</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 AI-Based Network Intrusion Detection System</vt:lpstr>
      <vt:lpstr>PROBLEM  STATEMENT</vt:lpstr>
      <vt:lpstr>Project Description  1. Project Objective To develop an intelligent Network Intrusion Detection System (NIDS) that identifies malicious traffic (specifically DDoS attacks) using behavioral analysis rather than static rules.  2. Core Technical Framework Data Source: Utilizes the CIC-IDS2017 dataset, focusing on 8 key network features (Flow Duration, Packet Length, IAT, etc.). ML Engine: Implements a Random Forest Classifier for high-speed, accurate classification of traffic into "BENIGN" or "ATTACK." Platform: A real-time Streamlit Dashboard that simulates live packet capture and analysis.  3. Key Innovation: Explainable AI (XAI) Integrates Groq (Llama-3) to solve the "Black Box" problem. The system doesn't just flag a threat; it generates a natural language explanation of the technical headers, acting as a virtual Security Analyst for the user.  4. Outcome Achieves [Insert Accuracy, e.g., 99%+] accuracy while reducing the technical barrier for junior analysts to understand and respond to network threats. </vt:lpstr>
      <vt:lpstr>WHO ARE THE END USERS?</vt:lpstr>
      <vt:lpstr>Technology Used</vt:lpstr>
      <vt:lpstr>RESULTS </vt:lpstr>
      <vt:lpstr>RESULTS </vt:lpstr>
      <vt:lpstr>RESULTS </vt:lpstr>
      <vt:lpstr>RESULTS </vt:lpstr>
      <vt:lpstr>RESULTS </vt:lpstr>
      <vt:lpstr>RESULTS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Mridul Singh Rajput</cp:lastModifiedBy>
  <cp:revision>77</cp:revision>
  <dcterms:created xsi:type="dcterms:W3CDTF">2021-07-11T13:13:15Z</dcterms:created>
  <dcterms:modified xsi:type="dcterms:W3CDTF">2026-01-09T13:38:27Z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